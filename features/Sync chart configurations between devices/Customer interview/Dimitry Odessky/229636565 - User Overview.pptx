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FAEEA0-10E0-40C7-868E-24211691D449}">
  <a:tblStyle styleId="{99FAEEA0-10E0-40C7-868E-24211691D44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User ID: 195433837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Mention country of birth if different from registered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Trading frequency: Many times a day / Once or twice a day / A few times a week / A few times a month / Infrequently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Risk management usage via heap dashboard or positions screen filter in admin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User’s top traded instruments &amp; positions per type is available in admin under user’s CFD real account\Summary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Heap features usage dashboard (Must update Identity </a:t>
            </a: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equals 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 ID): https://heapanalytics.com/app/env/280771416/dashboard/Customer-Interview-User-overview-Dashboard-525349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Alerts - Admin CFD real account \ Instrument Alerts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✕ ✓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Blue" showMasterSp="0">
  <p:cSld name="Title Only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2"/>
          <p:cNvPicPr preferRelativeResize="0"/>
          <p:nvPr/>
        </p:nvPicPr>
        <p:blipFill rotWithShape="1">
          <a:blip r:embed="rId3">
            <a:alphaModFix/>
          </a:blip>
          <a:srcRect b="35897" l="0" r="0" t="0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 b="0" l="0" r="0" t="81589"/>
          <a:stretch/>
        </p:blipFill>
        <p:spPr>
          <a:xfrm>
            <a:off x="1207524" y="4446639"/>
            <a:ext cx="6728952" cy="69686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2"/>
          <p:cNvSpPr txBox="1"/>
          <p:nvPr>
            <p:ph type="title"/>
          </p:nvPr>
        </p:nvSpPr>
        <p:spPr>
          <a:xfrm>
            <a:off x="358775" y="517013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b="1" i="0"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80215"/>
          <a:stretch/>
        </p:blipFill>
        <p:spPr>
          <a:xfrm>
            <a:off x="0" y="4125861"/>
            <a:ext cx="9144000" cy="1017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1473">
          <p15:clr>
            <a:srgbClr val="FBAE40"/>
          </p15:clr>
        </p15:guide>
        <p15:guide id="3" pos="1581">
          <p15:clr>
            <a:srgbClr val="FBAE40"/>
          </p15:clr>
        </p15:guide>
        <p15:guide id="4" pos="2935">
          <p15:clr>
            <a:srgbClr val="FBAE40"/>
          </p15:clr>
        </p15:guide>
        <p15:guide id="5" pos="4179">
          <p15:clr>
            <a:srgbClr val="FBAE40"/>
          </p15:clr>
        </p15:guide>
        <p15:guide id="6" pos="42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Slide">
  <p:cSld name="Blu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32" name="Google Shape;32;p3"/>
          <p:cNvSpPr/>
          <p:nvPr/>
        </p:nvSpPr>
        <p:spPr>
          <a:xfrm>
            <a:off x="0" y="4433563"/>
            <a:ext cx="9144000" cy="1479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0" y="1"/>
            <a:ext cx="9144000" cy="454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34;p3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1473">
          <p15:clr>
            <a:srgbClr val="FBAE40"/>
          </p15:clr>
        </p15:guide>
        <p15:guide id="3" pos="1581">
          <p15:clr>
            <a:srgbClr val="FBAE40"/>
          </p15:clr>
        </p15:guide>
        <p15:guide id="4" pos="2935">
          <p15:clr>
            <a:srgbClr val="FBAE40"/>
          </p15:clr>
        </p15:guide>
        <p15:guide id="5" pos="4179">
          <p15:clr>
            <a:srgbClr val="FBAE40"/>
          </p15:clr>
        </p15:guide>
        <p15:guide id="6" pos="42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accen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 b="26" l="14" r="14" t="5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ctrTitle"/>
          </p:nvPr>
        </p:nvSpPr>
        <p:spPr>
          <a:xfrm>
            <a:off x="577742" y="1545431"/>
            <a:ext cx="42981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540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b="0" i="0" sz="3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577742" y="3492500"/>
            <a:ext cx="42981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0" i="0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Poppins"/>
              <a:buNone/>
              <a:defRPr sz="1400"/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4"/>
          <p:cNvSpPr txBox="1"/>
          <p:nvPr>
            <p:ph idx="2" type="body"/>
          </p:nvPr>
        </p:nvSpPr>
        <p:spPr>
          <a:xfrm>
            <a:off x="577741" y="4777740"/>
            <a:ext cx="4298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b="0" i="0" sz="7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072" y="624435"/>
            <a:ext cx="2546150" cy="606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accen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title"/>
          </p:nvPr>
        </p:nvSpPr>
        <p:spPr>
          <a:xfrm>
            <a:off x="735085" y="1638300"/>
            <a:ext cx="7673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Poppins"/>
              <a:buNone/>
              <a:defRPr b="1" i="0" sz="3800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45" r="45" t="0"/>
          <a:stretch/>
        </p:blipFill>
        <p:spPr>
          <a:xfrm>
            <a:off x="3442063" y="3847709"/>
            <a:ext cx="2259875" cy="496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2935">
          <p15:clr>
            <a:srgbClr val="FBAE40"/>
          </p15:clr>
        </p15:guide>
        <p15:guide id="3" pos="1473">
          <p15:clr>
            <a:srgbClr val="FBAE40"/>
          </p15:clr>
        </p15:guide>
        <p15:guide id="4" pos="1581">
          <p15:clr>
            <a:srgbClr val="FBAE40"/>
          </p15:clr>
        </p15:guide>
        <p15:guide id="5" pos="4179">
          <p15:clr>
            <a:srgbClr val="FBAE40"/>
          </p15:clr>
        </p15:guide>
        <p15:guide id="6" pos="4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Grey">
  <p:cSld name="Title Only Grey">
    <p:bg>
      <p:bgPr>
        <a:solidFill>
          <a:srgbClr val="F6F6F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2935">
          <p15:clr>
            <a:srgbClr val="FBAE40"/>
          </p15:clr>
        </p15:guide>
        <p15:guide id="3" pos="1473">
          <p15:clr>
            <a:srgbClr val="FBAE40"/>
          </p15:clr>
        </p15:guide>
        <p15:guide id="4" pos="1581">
          <p15:clr>
            <a:srgbClr val="FBAE40"/>
          </p15:clr>
        </p15:guide>
        <p15:guide id="5" pos="4179">
          <p15:clr>
            <a:srgbClr val="FBAE40"/>
          </p15:clr>
        </p15:guide>
        <p15:guide id="6" pos="428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Content">
  <p:cSld name="3 Column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58774" y="1374300"/>
            <a:ext cx="26892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3224213" y="1374300"/>
            <a:ext cx="26955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6096000" y="1374300"/>
            <a:ext cx="26892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64" name="Google Shape;64;p8"/>
          <p:cNvSpPr txBox="1"/>
          <p:nvPr>
            <p:ph idx="5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920">
          <p15:clr>
            <a:srgbClr val="FBAE40"/>
          </p15:clr>
        </p15:guide>
        <p15:guide id="2" pos="2031">
          <p15:clr>
            <a:srgbClr val="FBAE40"/>
          </p15:clr>
        </p15:guide>
        <p15:guide id="3" pos="3729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Content">
  <p:cSld name="2 Column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" type="body"/>
          </p:nvPr>
        </p:nvSpPr>
        <p:spPr>
          <a:xfrm>
            <a:off x="358774" y="1374300"/>
            <a:ext cx="40347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4750595" y="1374300"/>
            <a:ext cx="40347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71" name="Google Shape;71;p9"/>
          <p:cNvSpPr txBox="1"/>
          <p:nvPr>
            <p:ph idx="4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69">
          <p15:clr>
            <a:srgbClr val="FBAE40"/>
          </p15:clr>
        </p15:guide>
        <p15:guide id="2" pos="299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Title Slide" showMasterSp="0">
  <p:cSld name="Alternative Title Slide">
    <p:bg>
      <p:bgPr>
        <a:solidFill>
          <a:schemeClr val="accen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0"/>
          <p:cNvPicPr preferRelativeResize="0"/>
          <p:nvPr/>
        </p:nvPicPr>
        <p:blipFill rotWithShape="1">
          <a:blip r:embed="rId2">
            <a:alphaModFix/>
          </a:blip>
          <a:srcRect b="0" l="0" r="8472" t="0"/>
          <a:stretch/>
        </p:blipFill>
        <p:spPr>
          <a:xfrm>
            <a:off x="774700" y="0"/>
            <a:ext cx="8369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/>
          <p:nvPr/>
        </p:nvSpPr>
        <p:spPr>
          <a:xfrm>
            <a:off x="0" y="0"/>
            <a:ext cx="83370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64000">
                <a:schemeClr val="accent1"/>
              </a:gs>
              <a:gs pos="81000">
                <a:srgbClr val="0C2780">
                  <a:alpha val="0"/>
                </a:srgbClr>
              </a:gs>
              <a:gs pos="100000">
                <a:srgbClr val="0C2780">
                  <a:alpha val="0"/>
                </a:srgbClr>
              </a:gs>
            </a:gsLst>
            <a:lin ang="48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0"/>
          <p:cNvSpPr txBox="1"/>
          <p:nvPr>
            <p:ph type="ctrTitle"/>
          </p:nvPr>
        </p:nvSpPr>
        <p:spPr>
          <a:xfrm>
            <a:off x="577742" y="1545431"/>
            <a:ext cx="42981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540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oppins"/>
              <a:buNone/>
              <a:defRPr b="0" i="0" sz="3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subTitle"/>
          </p:nvPr>
        </p:nvSpPr>
        <p:spPr>
          <a:xfrm>
            <a:off x="577742" y="3492500"/>
            <a:ext cx="42981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0" i="0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Poppins"/>
              <a:buNone/>
              <a:defRPr sz="1400"/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/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0"/>
          <p:cNvSpPr txBox="1"/>
          <p:nvPr>
            <p:ph idx="2" type="body"/>
          </p:nvPr>
        </p:nvSpPr>
        <p:spPr>
          <a:xfrm>
            <a:off x="577741" y="4777740"/>
            <a:ext cx="4298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b="0" i="0" sz="7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072" y="624435"/>
            <a:ext cx="2546150" cy="606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0"/>
          <p:cNvPicPr preferRelativeResize="0"/>
          <p:nvPr/>
        </p:nvPicPr>
        <p:blipFill rotWithShape="1">
          <a:blip r:embed="rId4">
            <a:alphaModFix/>
          </a:blip>
          <a:srcRect b="0" l="519" r="518" t="0"/>
          <a:stretch/>
        </p:blipFill>
        <p:spPr>
          <a:xfrm rot="5400000">
            <a:off x="4279843" y="2472368"/>
            <a:ext cx="1753687" cy="45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358775" y="1373029"/>
            <a:ext cx="8426400" cy="3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3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2935">
          <p15:clr>
            <a:srgbClr val="FBAE40"/>
          </p15:clr>
        </p15:guide>
        <p15:guide id="3" pos="1473">
          <p15:clr>
            <a:srgbClr val="FBAE40"/>
          </p15:clr>
        </p15:guide>
        <p15:guide id="4" pos="1581">
          <p15:clr>
            <a:srgbClr val="FBAE40"/>
          </p15:clr>
        </p15:guide>
        <p15:guide id="5" pos="4179">
          <p15:clr>
            <a:srgbClr val="FBAE40"/>
          </p15:clr>
        </p15:guide>
        <p15:guide id="6" pos="428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Content Grey">
  <p:cSld name="2 Column Content Grey">
    <p:bg>
      <p:bgPr>
        <a:solidFill>
          <a:srgbClr val="F6F6F6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idx="1" type="body"/>
          </p:nvPr>
        </p:nvSpPr>
        <p:spPr>
          <a:xfrm>
            <a:off x="358774" y="1374300"/>
            <a:ext cx="40347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2" type="body"/>
          </p:nvPr>
        </p:nvSpPr>
        <p:spPr>
          <a:xfrm>
            <a:off x="4750595" y="1374300"/>
            <a:ext cx="40347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3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93" name="Google Shape;93;p12"/>
          <p:cNvSpPr txBox="1"/>
          <p:nvPr>
            <p:ph idx="4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69">
          <p15:clr>
            <a:srgbClr val="FBAE40"/>
          </p15:clr>
        </p15:guide>
        <p15:guide id="2" pos="299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Content">
  <p:cSld name="4 Column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358775" y="1374300"/>
            <a:ext cx="19797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2509838" y="1374300"/>
            <a:ext cx="1974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4660106" y="1374300"/>
            <a:ext cx="19740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6805613" y="1374300"/>
            <a:ext cx="1981200" cy="3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•"/>
              <a:defRPr b="0" i="0"/>
            </a:lvl1pPr>
            <a:lvl2pPr indent="-28575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2pPr>
            <a:lvl3pPr indent="-28575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"/>
              <a:buChar char="•"/>
              <a:defRPr b="0" i="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5" type="body"/>
          </p:nvPr>
        </p:nvSpPr>
        <p:spPr>
          <a:xfrm>
            <a:off x="358775" y="783431"/>
            <a:ext cx="8427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i="0" sz="1400" cap="none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02" name="Google Shape;102;p13"/>
          <p:cNvSpPr txBox="1"/>
          <p:nvPr>
            <p:ph idx="6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2935">
          <p15:clr>
            <a:srgbClr val="FBAE40"/>
          </p15:clr>
        </p15:guide>
        <p15:guide id="3" pos="1473">
          <p15:clr>
            <a:srgbClr val="FBAE40"/>
          </p15:clr>
        </p15:guide>
        <p15:guide id="4" pos="1581">
          <p15:clr>
            <a:srgbClr val="FBAE40"/>
          </p15:clr>
        </p15:guide>
        <p15:guide id="5" pos="4179">
          <p15:clr>
            <a:srgbClr val="FBAE40"/>
          </p15:clr>
        </p15:guide>
        <p15:guide id="6" pos="428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laimer">
  <p:cSld name="Disclaim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357188" y="907822"/>
            <a:ext cx="4126800" cy="3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Poppins"/>
              <a:buNone/>
              <a:defRPr b="0" i="0" sz="600"/>
            </a:lvl1pPr>
            <a:lvl2pPr indent="-228600" lvl="1" marL="9144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600"/>
              <a:buFont typeface="Poppins"/>
              <a:buNone/>
              <a:defRPr b="0" i="0" sz="600"/>
            </a:lvl2pPr>
            <a:lvl3pPr indent="-228600" lvl="2" marL="1371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600"/>
              <a:buFont typeface="Poppins"/>
              <a:buNone/>
              <a:defRPr b="0" i="0" sz="600"/>
            </a:lvl3pPr>
            <a:lvl4pPr indent="-228600" lvl="3" marL="18288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00"/>
              <a:buNone/>
              <a:defRPr sz="600"/>
            </a:lvl4pPr>
            <a:lvl5pPr indent="-228600" lvl="4" marL="22860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4"/>
          <p:cNvSpPr txBox="1"/>
          <p:nvPr>
            <p:ph idx="2" type="body"/>
          </p:nvPr>
        </p:nvSpPr>
        <p:spPr>
          <a:xfrm>
            <a:off x="4660106" y="907822"/>
            <a:ext cx="4126800" cy="3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Poppins"/>
              <a:buNone/>
              <a:defRPr b="0" i="0" sz="600"/>
            </a:lvl1pPr>
            <a:lvl2pPr indent="-228600" lvl="1" marL="9144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600"/>
              <a:buFont typeface="Poppins"/>
              <a:buNone/>
              <a:defRPr b="0" i="0" sz="600"/>
            </a:lvl2pPr>
            <a:lvl3pPr indent="-228600" lvl="2" marL="13716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600"/>
              <a:buFont typeface="Poppins"/>
              <a:buNone/>
              <a:defRPr b="0" i="0" sz="600"/>
            </a:lvl3pPr>
            <a:lvl4pPr indent="-228600" lvl="3" marL="18288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00"/>
              <a:buNone/>
              <a:defRPr sz="600"/>
            </a:lvl4pPr>
            <a:lvl5pPr indent="-228600" lvl="4" marL="22860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3" type="body"/>
          </p:nvPr>
        </p:nvSpPr>
        <p:spPr>
          <a:xfrm>
            <a:off x="358776" y="4657725"/>
            <a:ext cx="2151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Poppins"/>
              <a:buNone/>
              <a:defRPr b="0" i="0" sz="5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b="1" sz="1400"/>
            </a:lvl2pPr>
            <a:lvl3pPr indent="-228600" lvl="2" marL="1371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25">
          <p15:clr>
            <a:srgbClr val="FBAE40"/>
          </p15:clr>
        </p15:guide>
        <p15:guide id="2" pos="2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title"/>
          </p:nvPr>
        </p:nvSpPr>
        <p:spPr>
          <a:xfrm>
            <a:off x="735085" y="1638300"/>
            <a:ext cx="7673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Poppins"/>
              <a:buNone/>
              <a:defRPr b="1" i="0" sz="3800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540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" name="Google Shape;11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523506" y="4720015"/>
            <a:ext cx="263614" cy="223722"/>
          </a:xfrm>
          <a:custGeom>
            <a:rect b="b" l="l" r="r" t="t"/>
            <a:pathLst>
              <a:path extrusionOk="0" h="327798" w="386248">
                <a:moveTo>
                  <a:pt x="114417" y="327798"/>
                </a:moveTo>
                <a:lnTo>
                  <a:pt x="271831" y="327798"/>
                </a:lnTo>
                <a:lnTo>
                  <a:pt x="271831" y="242315"/>
                </a:lnTo>
                <a:lnTo>
                  <a:pt x="386248" y="242315"/>
                </a:lnTo>
                <a:lnTo>
                  <a:pt x="386248" y="85531"/>
                </a:lnTo>
                <a:lnTo>
                  <a:pt x="271831" y="85531"/>
                </a:lnTo>
                <a:lnTo>
                  <a:pt x="271831" y="0"/>
                </a:lnTo>
                <a:lnTo>
                  <a:pt x="114417" y="0"/>
                </a:lnTo>
                <a:lnTo>
                  <a:pt x="114417" y="85531"/>
                </a:lnTo>
                <a:lnTo>
                  <a:pt x="0" y="85531"/>
                </a:lnTo>
                <a:lnTo>
                  <a:pt x="0" y="242315"/>
                </a:lnTo>
                <a:lnTo>
                  <a:pt x="114417" y="242315"/>
                </a:lnTo>
                <a:lnTo>
                  <a:pt x="114417" y="327798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EAECF0"/>
              </a:gs>
            </a:gsLst>
            <a:lin ang="2700000" scaled="0"/>
          </a:gradFill>
          <a:ln cap="flat" cmpd="sng" w="9525">
            <a:solidFill>
              <a:srgbClr val="EAECF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9050" rotWithShape="0" algn="tr" dir="8100000" dist="9525">
              <a:srgbClr val="000000">
                <a:alpha val="901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477470"/>
            <a:ext cx="9144000" cy="1479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0" y="0"/>
            <a:ext cx="9144000" cy="59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358775" y="63500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58775" y="1373029"/>
            <a:ext cx="8426400" cy="3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Char char="•"/>
              <a:defRPr b="0" i="0" sz="11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8575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Poppins"/>
              <a:buChar char="•"/>
              <a:defRPr b="0" i="0" sz="9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85750" lvl="2" marL="1371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Poppins"/>
              <a:buChar char="•"/>
              <a:defRPr b="0" i="0" sz="9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28600" lvl="6" marL="3200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522494" y="4739388"/>
            <a:ext cx="264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5027321" y="4764091"/>
            <a:ext cx="1040546" cy="124588"/>
          </a:xfrm>
          <a:custGeom>
            <a:rect b="b" l="l" r="r" t="t"/>
            <a:pathLst>
              <a:path extrusionOk="0" h="513763" w="4290910">
                <a:moveTo>
                  <a:pt x="4107333" y="513763"/>
                </a:moveTo>
                <a:cubicBezTo>
                  <a:pt x="4145088" y="513763"/>
                  <a:pt x="4177840" y="506863"/>
                  <a:pt x="4205591" y="493063"/>
                </a:cubicBezTo>
                <a:cubicBezTo>
                  <a:pt x="4233293" y="479263"/>
                  <a:pt x="4254504" y="460671"/>
                  <a:pt x="4269028" y="437288"/>
                </a:cubicBezTo>
                <a:cubicBezTo>
                  <a:pt x="4283600" y="413953"/>
                  <a:pt x="4290911" y="387982"/>
                  <a:pt x="4290911" y="359423"/>
                </a:cubicBezTo>
                <a:cubicBezTo>
                  <a:pt x="4290911" y="329427"/>
                  <a:pt x="4283504" y="304894"/>
                  <a:pt x="4268691" y="285823"/>
                </a:cubicBezTo>
                <a:cubicBezTo>
                  <a:pt x="4253878" y="266752"/>
                  <a:pt x="4236324" y="252234"/>
                  <a:pt x="4215980" y="242219"/>
                </a:cubicBezTo>
                <a:cubicBezTo>
                  <a:pt x="4195636" y="232204"/>
                  <a:pt x="4169232" y="221759"/>
                  <a:pt x="4136720" y="210786"/>
                </a:cubicBezTo>
                <a:cubicBezTo>
                  <a:pt x="4104208" y="200292"/>
                  <a:pt x="4080304" y="190517"/>
                  <a:pt x="4065010" y="181509"/>
                </a:cubicBezTo>
                <a:cubicBezTo>
                  <a:pt x="4049716" y="172452"/>
                  <a:pt x="4042069" y="159850"/>
                  <a:pt x="4042069" y="143606"/>
                </a:cubicBezTo>
                <a:cubicBezTo>
                  <a:pt x="4042069" y="128848"/>
                  <a:pt x="4046637" y="117540"/>
                  <a:pt x="4055680" y="109681"/>
                </a:cubicBezTo>
                <a:cubicBezTo>
                  <a:pt x="4064769" y="101823"/>
                  <a:pt x="4076745" y="97894"/>
                  <a:pt x="4091558" y="97894"/>
                </a:cubicBezTo>
                <a:cubicBezTo>
                  <a:pt x="4108777" y="97894"/>
                  <a:pt x="4122868" y="102542"/>
                  <a:pt x="4133882" y="111838"/>
                </a:cubicBezTo>
                <a:cubicBezTo>
                  <a:pt x="4144848" y="121133"/>
                  <a:pt x="4150811" y="133879"/>
                  <a:pt x="4151821" y="150075"/>
                </a:cubicBezTo>
                <a:lnTo>
                  <a:pt x="4284515" y="150075"/>
                </a:lnTo>
                <a:cubicBezTo>
                  <a:pt x="4282110" y="102925"/>
                  <a:pt x="4263930" y="66125"/>
                  <a:pt x="4229975" y="39675"/>
                </a:cubicBezTo>
                <a:cubicBezTo>
                  <a:pt x="4196020" y="13225"/>
                  <a:pt x="4151340" y="0"/>
                  <a:pt x="4095888" y="0"/>
                </a:cubicBezTo>
                <a:cubicBezTo>
                  <a:pt x="4040434" y="0"/>
                  <a:pt x="3997149" y="13225"/>
                  <a:pt x="3963194" y="39675"/>
                </a:cubicBezTo>
                <a:cubicBezTo>
                  <a:pt x="3929239" y="66077"/>
                  <a:pt x="3912261" y="102686"/>
                  <a:pt x="3912261" y="149356"/>
                </a:cubicBezTo>
                <a:cubicBezTo>
                  <a:pt x="3912261" y="180790"/>
                  <a:pt x="3919668" y="206281"/>
                  <a:pt x="3934481" y="225784"/>
                </a:cubicBezTo>
                <a:cubicBezTo>
                  <a:pt x="3949294" y="245334"/>
                  <a:pt x="3966994" y="260092"/>
                  <a:pt x="3987530" y="270059"/>
                </a:cubicBezTo>
                <a:cubicBezTo>
                  <a:pt x="4008067" y="280073"/>
                  <a:pt x="4034614" y="290088"/>
                  <a:pt x="4067126" y="300055"/>
                </a:cubicBezTo>
                <a:cubicBezTo>
                  <a:pt x="4089587" y="306715"/>
                  <a:pt x="4106948" y="312705"/>
                  <a:pt x="4119116" y="317927"/>
                </a:cubicBezTo>
                <a:cubicBezTo>
                  <a:pt x="4131285" y="323150"/>
                  <a:pt x="4141577" y="329859"/>
                  <a:pt x="4149946" y="337957"/>
                </a:cubicBezTo>
                <a:cubicBezTo>
                  <a:pt x="4158314" y="346055"/>
                  <a:pt x="4162498" y="356309"/>
                  <a:pt x="4162498" y="368671"/>
                </a:cubicBezTo>
                <a:cubicBezTo>
                  <a:pt x="4162498" y="383430"/>
                  <a:pt x="4157208" y="394978"/>
                  <a:pt x="4146723" y="403315"/>
                </a:cubicBezTo>
                <a:cubicBezTo>
                  <a:pt x="4136190" y="411653"/>
                  <a:pt x="4121858" y="415821"/>
                  <a:pt x="4103678" y="415821"/>
                </a:cubicBezTo>
                <a:cubicBezTo>
                  <a:pt x="4085498" y="415821"/>
                  <a:pt x="4071648" y="410934"/>
                  <a:pt x="4060634" y="401159"/>
                </a:cubicBezTo>
                <a:cubicBezTo>
                  <a:pt x="4049668" y="391432"/>
                  <a:pt x="4043175" y="377248"/>
                  <a:pt x="4041300" y="358657"/>
                </a:cubicBezTo>
                <a:lnTo>
                  <a:pt x="3910770" y="358657"/>
                </a:lnTo>
                <a:cubicBezTo>
                  <a:pt x="3911733" y="391528"/>
                  <a:pt x="3920918" y="419607"/>
                  <a:pt x="3938377" y="442990"/>
                </a:cubicBezTo>
                <a:cubicBezTo>
                  <a:pt x="3955835" y="466326"/>
                  <a:pt x="3979113" y="483959"/>
                  <a:pt x="4008306" y="495842"/>
                </a:cubicBezTo>
                <a:cubicBezTo>
                  <a:pt x="4037452" y="507774"/>
                  <a:pt x="4070493" y="513715"/>
                  <a:pt x="4107285" y="513715"/>
                </a:cubicBezTo>
                <a:moveTo>
                  <a:pt x="3431700" y="7092"/>
                </a:moveTo>
                <a:lnTo>
                  <a:pt x="3431700" y="306475"/>
                </a:lnTo>
                <a:cubicBezTo>
                  <a:pt x="3431700" y="351278"/>
                  <a:pt x="3440789" y="389228"/>
                  <a:pt x="3458969" y="420469"/>
                </a:cubicBezTo>
                <a:cubicBezTo>
                  <a:pt x="3477149" y="451663"/>
                  <a:pt x="3501870" y="474998"/>
                  <a:pt x="3533180" y="490476"/>
                </a:cubicBezTo>
                <a:cubicBezTo>
                  <a:pt x="3564488" y="505953"/>
                  <a:pt x="3599983" y="513715"/>
                  <a:pt x="3639661" y="513715"/>
                </a:cubicBezTo>
                <a:cubicBezTo>
                  <a:pt x="3679339" y="513715"/>
                  <a:pt x="3715314" y="505857"/>
                  <a:pt x="3747585" y="490140"/>
                </a:cubicBezTo>
                <a:cubicBezTo>
                  <a:pt x="3779856" y="474423"/>
                  <a:pt x="3805539" y="451088"/>
                  <a:pt x="3824681" y="420086"/>
                </a:cubicBezTo>
                <a:cubicBezTo>
                  <a:pt x="3843774" y="389132"/>
                  <a:pt x="3853345" y="351278"/>
                  <a:pt x="3853345" y="306475"/>
                </a:cubicBezTo>
                <a:lnTo>
                  <a:pt x="3853345" y="7092"/>
                </a:lnTo>
                <a:lnTo>
                  <a:pt x="3730704" y="7092"/>
                </a:lnTo>
                <a:lnTo>
                  <a:pt x="3730704" y="307194"/>
                </a:lnTo>
                <a:cubicBezTo>
                  <a:pt x="3730704" y="337190"/>
                  <a:pt x="3723057" y="360334"/>
                  <a:pt x="3707763" y="376482"/>
                </a:cubicBezTo>
                <a:cubicBezTo>
                  <a:pt x="3692469" y="392678"/>
                  <a:pt x="3670489" y="400775"/>
                  <a:pt x="3641777" y="400775"/>
                </a:cubicBezTo>
                <a:cubicBezTo>
                  <a:pt x="3613064" y="400775"/>
                  <a:pt x="3591326" y="392678"/>
                  <a:pt x="3576512" y="376482"/>
                </a:cubicBezTo>
                <a:cubicBezTo>
                  <a:pt x="3561700" y="360286"/>
                  <a:pt x="3554293" y="337190"/>
                  <a:pt x="3554293" y="307194"/>
                </a:cubicBezTo>
                <a:lnTo>
                  <a:pt x="3554293" y="7092"/>
                </a:lnTo>
                <a:lnTo>
                  <a:pt x="3431651" y="7092"/>
                </a:lnTo>
                <a:close/>
                <a:moveTo>
                  <a:pt x="3228740" y="7092"/>
                </a:moveTo>
                <a:lnTo>
                  <a:pt x="3106099" y="7092"/>
                </a:lnTo>
                <a:lnTo>
                  <a:pt x="3106099" y="508732"/>
                </a:lnTo>
                <a:lnTo>
                  <a:pt x="3389376" y="508732"/>
                </a:lnTo>
                <a:lnTo>
                  <a:pt x="3389376" y="414432"/>
                </a:lnTo>
                <a:lnTo>
                  <a:pt x="3228740" y="414432"/>
                </a:lnTo>
                <a:lnTo>
                  <a:pt x="3228740" y="7140"/>
                </a:lnTo>
                <a:close/>
                <a:moveTo>
                  <a:pt x="2862259" y="231438"/>
                </a:moveTo>
                <a:lnTo>
                  <a:pt x="2795551" y="231438"/>
                </a:lnTo>
                <a:lnTo>
                  <a:pt x="2795551" y="105704"/>
                </a:lnTo>
                <a:lnTo>
                  <a:pt x="2862259" y="105704"/>
                </a:lnTo>
                <a:cubicBezTo>
                  <a:pt x="2885681" y="105704"/>
                  <a:pt x="2903140" y="111167"/>
                  <a:pt x="2914634" y="122140"/>
                </a:cubicBezTo>
                <a:cubicBezTo>
                  <a:pt x="2926080" y="133113"/>
                  <a:pt x="2931852" y="148590"/>
                  <a:pt x="2931852" y="168619"/>
                </a:cubicBezTo>
                <a:cubicBezTo>
                  <a:pt x="2931852" y="188648"/>
                  <a:pt x="2926080" y="204125"/>
                  <a:pt x="2914634" y="215098"/>
                </a:cubicBezTo>
                <a:cubicBezTo>
                  <a:pt x="2903140" y="226023"/>
                  <a:pt x="2885681" y="231534"/>
                  <a:pt x="2862259" y="231534"/>
                </a:cubicBezTo>
                <a:moveTo>
                  <a:pt x="3056609" y="168667"/>
                </a:moveTo>
                <a:cubicBezTo>
                  <a:pt x="3056609" y="137234"/>
                  <a:pt x="3049636" y="109346"/>
                  <a:pt x="3035784" y="85052"/>
                </a:cubicBezTo>
                <a:cubicBezTo>
                  <a:pt x="3021933" y="60758"/>
                  <a:pt x="3001108" y="41735"/>
                  <a:pt x="2973405" y="27888"/>
                </a:cubicBezTo>
                <a:cubicBezTo>
                  <a:pt x="2945703" y="14040"/>
                  <a:pt x="2911748" y="7140"/>
                  <a:pt x="2871589" y="7140"/>
                </a:cubicBezTo>
                <a:lnTo>
                  <a:pt x="2672958" y="7140"/>
                </a:lnTo>
                <a:lnTo>
                  <a:pt x="2672958" y="508780"/>
                </a:lnTo>
                <a:lnTo>
                  <a:pt x="2795599" y="508780"/>
                </a:lnTo>
                <a:lnTo>
                  <a:pt x="2795599" y="328709"/>
                </a:lnTo>
                <a:lnTo>
                  <a:pt x="2871637" y="328709"/>
                </a:lnTo>
                <a:cubicBezTo>
                  <a:pt x="2912759" y="328709"/>
                  <a:pt x="2947194" y="321330"/>
                  <a:pt x="2974896" y="306571"/>
                </a:cubicBezTo>
                <a:cubicBezTo>
                  <a:pt x="3002599" y="291813"/>
                  <a:pt x="3023184" y="272407"/>
                  <a:pt x="3036602" y="248304"/>
                </a:cubicBezTo>
                <a:cubicBezTo>
                  <a:pt x="3049972" y="224250"/>
                  <a:pt x="3056706" y="197704"/>
                  <a:pt x="3056706" y="168619"/>
                </a:cubicBezTo>
                <a:moveTo>
                  <a:pt x="2178833" y="325834"/>
                </a:moveTo>
                <a:lnTo>
                  <a:pt x="2240491" y="142217"/>
                </a:lnTo>
                <a:lnTo>
                  <a:pt x="2302870" y="325834"/>
                </a:lnTo>
                <a:lnTo>
                  <a:pt x="2178785" y="325834"/>
                </a:lnTo>
                <a:close/>
                <a:moveTo>
                  <a:pt x="2364574" y="508780"/>
                </a:moveTo>
                <a:lnTo>
                  <a:pt x="2494382" y="508780"/>
                </a:lnTo>
                <a:lnTo>
                  <a:pt x="2312248" y="7140"/>
                </a:lnTo>
                <a:lnTo>
                  <a:pt x="2170224" y="7140"/>
                </a:lnTo>
                <a:lnTo>
                  <a:pt x="1988042" y="508780"/>
                </a:lnTo>
                <a:lnTo>
                  <a:pt x="2116407" y="508780"/>
                </a:lnTo>
                <a:lnTo>
                  <a:pt x="2146514" y="420182"/>
                </a:lnTo>
                <a:lnTo>
                  <a:pt x="2334420" y="420182"/>
                </a:lnTo>
                <a:lnTo>
                  <a:pt x="2364526" y="508780"/>
                </a:lnTo>
                <a:close/>
                <a:moveTo>
                  <a:pt x="1686824" y="7140"/>
                </a:moveTo>
                <a:lnTo>
                  <a:pt x="1686824" y="203646"/>
                </a:lnTo>
                <a:lnTo>
                  <a:pt x="1496033" y="203646"/>
                </a:lnTo>
                <a:lnTo>
                  <a:pt x="1496033" y="7140"/>
                </a:lnTo>
                <a:lnTo>
                  <a:pt x="1373392" y="7140"/>
                </a:lnTo>
                <a:lnTo>
                  <a:pt x="1373392" y="508780"/>
                </a:lnTo>
                <a:lnTo>
                  <a:pt x="1496033" y="508780"/>
                </a:lnTo>
                <a:lnTo>
                  <a:pt x="1496033" y="302259"/>
                </a:lnTo>
                <a:lnTo>
                  <a:pt x="1686824" y="302259"/>
                </a:lnTo>
                <a:lnTo>
                  <a:pt x="1686824" y="508780"/>
                </a:lnTo>
                <a:lnTo>
                  <a:pt x="1809466" y="508780"/>
                </a:lnTo>
                <a:lnTo>
                  <a:pt x="1809466" y="7140"/>
                </a:lnTo>
                <a:lnTo>
                  <a:pt x="1686824" y="7140"/>
                </a:lnTo>
                <a:close/>
                <a:moveTo>
                  <a:pt x="936644" y="7140"/>
                </a:moveTo>
                <a:lnTo>
                  <a:pt x="936644" y="105033"/>
                </a:lnTo>
                <a:lnTo>
                  <a:pt x="1070058" y="105033"/>
                </a:lnTo>
                <a:lnTo>
                  <a:pt x="1070058" y="508780"/>
                </a:lnTo>
                <a:lnTo>
                  <a:pt x="1192700" y="508780"/>
                </a:lnTo>
                <a:lnTo>
                  <a:pt x="1192700" y="105033"/>
                </a:lnTo>
                <a:lnTo>
                  <a:pt x="1326114" y="105033"/>
                </a:lnTo>
                <a:lnTo>
                  <a:pt x="1326114" y="7140"/>
                </a:lnTo>
                <a:lnTo>
                  <a:pt x="936644" y="7140"/>
                </a:lnTo>
                <a:close/>
                <a:moveTo>
                  <a:pt x="766677" y="508780"/>
                </a:moveTo>
                <a:lnTo>
                  <a:pt x="889319" y="508780"/>
                </a:lnTo>
                <a:lnTo>
                  <a:pt x="889319" y="7140"/>
                </a:lnTo>
                <a:lnTo>
                  <a:pt x="766677" y="7140"/>
                </a:lnTo>
                <a:lnTo>
                  <a:pt x="766677" y="508780"/>
                </a:lnTo>
                <a:close/>
                <a:moveTo>
                  <a:pt x="587380" y="7140"/>
                </a:moveTo>
                <a:lnTo>
                  <a:pt x="514228" y="372265"/>
                </a:lnTo>
                <a:lnTo>
                  <a:pt x="428139" y="7140"/>
                </a:lnTo>
                <a:lnTo>
                  <a:pt x="293329" y="7140"/>
                </a:lnTo>
                <a:lnTo>
                  <a:pt x="203681" y="372265"/>
                </a:lnTo>
                <a:lnTo>
                  <a:pt x="131251" y="7140"/>
                </a:lnTo>
                <a:lnTo>
                  <a:pt x="0" y="7140"/>
                </a:lnTo>
                <a:lnTo>
                  <a:pt x="127692" y="508780"/>
                </a:lnTo>
                <a:lnTo>
                  <a:pt x="276112" y="508780"/>
                </a:lnTo>
                <a:lnTo>
                  <a:pt x="359315" y="178681"/>
                </a:lnTo>
                <a:lnTo>
                  <a:pt x="439634" y="508780"/>
                </a:lnTo>
                <a:lnTo>
                  <a:pt x="588102" y="508780"/>
                </a:lnTo>
                <a:lnTo>
                  <a:pt x="719352" y="7140"/>
                </a:lnTo>
                <a:lnTo>
                  <a:pt x="587380" y="714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998691" y="4749051"/>
            <a:ext cx="969938" cy="139135"/>
          </a:xfrm>
          <a:custGeom>
            <a:rect b="b" l="l" r="r" t="t"/>
            <a:pathLst>
              <a:path extrusionOk="0" h="573754" w="3999745">
                <a:moveTo>
                  <a:pt x="3984740" y="215050"/>
                </a:moveTo>
                <a:cubicBezTo>
                  <a:pt x="3966079" y="167421"/>
                  <a:pt x="3936309" y="130477"/>
                  <a:pt x="3895428" y="104267"/>
                </a:cubicBezTo>
                <a:cubicBezTo>
                  <a:pt x="3854548" y="78056"/>
                  <a:pt x="3807560" y="64975"/>
                  <a:pt x="3754511" y="64975"/>
                </a:cubicBezTo>
                <a:cubicBezTo>
                  <a:pt x="3708100" y="64975"/>
                  <a:pt x="3665824" y="75804"/>
                  <a:pt x="3627589" y="97463"/>
                </a:cubicBezTo>
                <a:cubicBezTo>
                  <a:pt x="3589353" y="119169"/>
                  <a:pt x="3559102" y="149404"/>
                  <a:pt x="3536834" y="188217"/>
                </a:cubicBezTo>
                <a:cubicBezTo>
                  <a:pt x="3514615" y="227077"/>
                  <a:pt x="3503456" y="270730"/>
                  <a:pt x="3503456" y="319317"/>
                </a:cubicBezTo>
                <a:cubicBezTo>
                  <a:pt x="3503456" y="367905"/>
                  <a:pt x="3514567" y="411509"/>
                  <a:pt x="3536834" y="450082"/>
                </a:cubicBezTo>
                <a:cubicBezTo>
                  <a:pt x="3559102" y="488655"/>
                  <a:pt x="3589306" y="518794"/>
                  <a:pt x="3627589" y="540453"/>
                </a:cubicBezTo>
                <a:cubicBezTo>
                  <a:pt x="3665824" y="562159"/>
                  <a:pt x="3708148" y="572988"/>
                  <a:pt x="3754511" y="572988"/>
                </a:cubicBezTo>
                <a:cubicBezTo>
                  <a:pt x="3798518" y="572988"/>
                  <a:pt x="3838388" y="563117"/>
                  <a:pt x="3874267" y="543328"/>
                </a:cubicBezTo>
                <a:cubicBezTo>
                  <a:pt x="3910145" y="523586"/>
                  <a:pt x="3939050" y="496657"/>
                  <a:pt x="3961029" y="462588"/>
                </a:cubicBezTo>
                <a:cubicBezTo>
                  <a:pt x="3983009" y="428519"/>
                  <a:pt x="3995898" y="391048"/>
                  <a:pt x="3999746" y="350032"/>
                </a:cubicBezTo>
                <a:lnTo>
                  <a:pt x="3999746" y="300007"/>
                </a:lnTo>
                <a:lnTo>
                  <a:pt x="3730800" y="300007"/>
                </a:lnTo>
                <a:lnTo>
                  <a:pt x="3730800" y="352859"/>
                </a:lnTo>
                <a:lnTo>
                  <a:pt x="3930201" y="352859"/>
                </a:lnTo>
                <a:cubicBezTo>
                  <a:pt x="3924910" y="402405"/>
                  <a:pt x="3906538" y="441696"/>
                  <a:pt x="3874988" y="470782"/>
                </a:cubicBezTo>
                <a:cubicBezTo>
                  <a:pt x="3843438" y="499819"/>
                  <a:pt x="3803279" y="514386"/>
                  <a:pt x="3754511" y="514386"/>
                </a:cubicBezTo>
                <a:cubicBezTo>
                  <a:pt x="3719594" y="514386"/>
                  <a:pt x="3688188" y="506384"/>
                  <a:pt x="3660197" y="490476"/>
                </a:cubicBezTo>
                <a:cubicBezTo>
                  <a:pt x="3632254" y="474519"/>
                  <a:pt x="3610227" y="451759"/>
                  <a:pt x="3594211" y="422242"/>
                </a:cubicBezTo>
                <a:cubicBezTo>
                  <a:pt x="3578196" y="392725"/>
                  <a:pt x="3570212" y="358417"/>
                  <a:pt x="3570212" y="319365"/>
                </a:cubicBezTo>
                <a:cubicBezTo>
                  <a:pt x="3570212" y="280313"/>
                  <a:pt x="3578196" y="245909"/>
                  <a:pt x="3594211" y="216104"/>
                </a:cubicBezTo>
                <a:cubicBezTo>
                  <a:pt x="3610227" y="186300"/>
                  <a:pt x="3632254" y="163492"/>
                  <a:pt x="3660197" y="147488"/>
                </a:cubicBezTo>
                <a:cubicBezTo>
                  <a:pt x="3688188" y="131531"/>
                  <a:pt x="3719594" y="123577"/>
                  <a:pt x="3754511" y="123577"/>
                </a:cubicBezTo>
                <a:cubicBezTo>
                  <a:pt x="3789428" y="123577"/>
                  <a:pt x="3820016" y="131579"/>
                  <a:pt x="3846324" y="147488"/>
                </a:cubicBezTo>
                <a:cubicBezTo>
                  <a:pt x="3872631" y="163444"/>
                  <a:pt x="3892687" y="185965"/>
                  <a:pt x="3906586" y="215002"/>
                </a:cubicBezTo>
                <a:lnTo>
                  <a:pt x="3984740" y="215002"/>
                </a:lnTo>
                <a:close/>
                <a:moveTo>
                  <a:pt x="3431074" y="70006"/>
                </a:moveTo>
                <a:lnTo>
                  <a:pt x="3365810" y="70006"/>
                </a:lnTo>
                <a:lnTo>
                  <a:pt x="3365810" y="465846"/>
                </a:lnTo>
                <a:lnTo>
                  <a:pt x="3103309" y="70006"/>
                </a:lnTo>
                <a:lnTo>
                  <a:pt x="3038045" y="70006"/>
                </a:lnTo>
                <a:lnTo>
                  <a:pt x="3038045" y="568772"/>
                </a:lnTo>
                <a:lnTo>
                  <a:pt x="3103309" y="568772"/>
                </a:lnTo>
                <a:lnTo>
                  <a:pt x="3103309" y="172165"/>
                </a:lnTo>
                <a:lnTo>
                  <a:pt x="3365810" y="568724"/>
                </a:lnTo>
                <a:lnTo>
                  <a:pt x="3431074" y="568724"/>
                </a:lnTo>
                <a:lnTo>
                  <a:pt x="3431074" y="70006"/>
                </a:lnTo>
                <a:close/>
                <a:moveTo>
                  <a:pt x="2875965" y="568772"/>
                </a:moveTo>
                <a:lnTo>
                  <a:pt x="2941230" y="568772"/>
                </a:lnTo>
                <a:lnTo>
                  <a:pt x="2941230" y="70677"/>
                </a:lnTo>
                <a:lnTo>
                  <a:pt x="2875965" y="70677"/>
                </a:lnTo>
                <a:lnTo>
                  <a:pt x="2875965" y="568724"/>
                </a:lnTo>
                <a:close/>
                <a:moveTo>
                  <a:pt x="2538870" y="515153"/>
                </a:moveTo>
                <a:lnTo>
                  <a:pt x="2448500" y="515153"/>
                </a:lnTo>
                <a:lnTo>
                  <a:pt x="2448500" y="123577"/>
                </a:lnTo>
                <a:lnTo>
                  <a:pt x="2538870" y="123577"/>
                </a:lnTo>
                <a:cubicBezTo>
                  <a:pt x="2602932" y="123577"/>
                  <a:pt x="2652085" y="140971"/>
                  <a:pt x="2686232" y="175759"/>
                </a:cubicBezTo>
                <a:cubicBezTo>
                  <a:pt x="2720427" y="210546"/>
                  <a:pt x="2737549" y="258894"/>
                  <a:pt x="2737549" y="320802"/>
                </a:cubicBezTo>
                <a:cubicBezTo>
                  <a:pt x="2737549" y="382711"/>
                  <a:pt x="2720572" y="430005"/>
                  <a:pt x="2686617" y="464073"/>
                </a:cubicBezTo>
                <a:cubicBezTo>
                  <a:pt x="2652662" y="498142"/>
                  <a:pt x="2603413" y="515153"/>
                  <a:pt x="2538870" y="515153"/>
                </a:cubicBezTo>
                <a:moveTo>
                  <a:pt x="2538870" y="70725"/>
                </a:moveTo>
                <a:lnTo>
                  <a:pt x="2383236" y="70725"/>
                </a:lnTo>
                <a:lnTo>
                  <a:pt x="2383236" y="568772"/>
                </a:lnTo>
                <a:lnTo>
                  <a:pt x="2538870" y="568772"/>
                </a:lnTo>
                <a:cubicBezTo>
                  <a:pt x="2593409" y="568772"/>
                  <a:pt x="2640590" y="558901"/>
                  <a:pt x="2680509" y="539111"/>
                </a:cubicBezTo>
                <a:cubicBezTo>
                  <a:pt x="2720427" y="519369"/>
                  <a:pt x="2751064" y="490763"/>
                  <a:pt x="2772322" y="453388"/>
                </a:cubicBezTo>
                <a:cubicBezTo>
                  <a:pt x="2793627" y="416013"/>
                  <a:pt x="2804256" y="371834"/>
                  <a:pt x="2804256" y="320850"/>
                </a:cubicBezTo>
                <a:cubicBezTo>
                  <a:pt x="2804256" y="269867"/>
                  <a:pt x="2793627" y="225592"/>
                  <a:pt x="2772322" y="187929"/>
                </a:cubicBezTo>
                <a:cubicBezTo>
                  <a:pt x="2751064" y="150315"/>
                  <a:pt x="2720427" y="121373"/>
                  <a:pt x="2680509" y="101104"/>
                </a:cubicBezTo>
                <a:cubicBezTo>
                  <a:pt x="2640590" y="80835"/>
                  <a:pt x="2593361" y="70725"/>
                  <a:pt x="2538870" y="70725"/>
                </a:cubicBezTo>
                <a:moveTo>
                  <a:pt x="2024641" y="405136"/>
                </a:moveTo>
                <a:lnTo>
                  <a:pt x="2115012" y="153621"/>
                </a:lnTo>
                <a:lnTo>
                  <a:pt x="2205382" y="405136"/>
                </a:lnTo>
                <a:lnTo>
                  <a:pt x="2024641" y="405136"/>
                </a:lnTo>
                <a:close/>
                <a:moveTo>
                  <a:pt x="2264201" y="568772"/>
                </a:moveTo>
                <a:lnTo>
                  <a:pt x="2333073" y="568772"/>
                </a:lnTo>
                <a:lnTo>
                  <a:pt x="2153055" y="73600"/>
                </a:lnTo>
                <a:lnTo>
                  <a:pt x="2077738" y="73600"/>
                </a:lnTo>
                <a:lnTo>
                  <a:pt x="1896999" y="568772"/>
                </a:lnTo>
                <a:lnTo>
                  <a:pt x="1965870" y="568772"/>
                </a:lnTo>
                <a:lnTo>
                  <a:pt x="2006029" y="457988"/>
                </a:lnTo>
                <a:lnTo>
                  <a:pt x="2224042" y="457988"/>
                </a:lnTo>
                <a:lnTo>
                  <a:pt x="2264201" y="568772"/>
                </a:lnTo>
                <a:close/>
                <a:moveTo>
                  <a:pt x="1572119" y="124296"/>
                </a:moveTo>
                <a:lnTo>
                  <a:pt x="1668212" y="124296"/>
                </a:lnTo>
                <a:cubicBezTo>
                  <a:pt x="1704090" y="124296"/>
                  <a:pt x="1730735" y="132394"/>
                  <a:pt x="1748193" y="148590"/>
                </a:cubicBezTo>
                <a:cubicBezTo>
                  <a:pt x="1765652" y="164786"/>
                  <a:pt x="1774405" y="187642"/>
                  <a:pt x="1774405" y="217159"/>
                </a:cubicBezTo>
                <a:cubicBezTo>
                  <a:pt x="1774405" y="246675"/>
                  <a:pt x="1765555" y="269484"/>
                  <a:pt x="1747857" y="286830"/>
                </a:cubicBezTo>
                <a:cubicBezTo>
                  <a:pt x="1730158" y="304223"/>
                  <a:pt x="1703609" y="312896"/>
                  <a:pt x="1668260" y="312896"/>
                </a:cubicBezTo>
                <a:lnTo>
                  <a:pt x="1572167" y="312896"/>
                </a:lnTo>
                <a:lnTo>
                  <a:pt x="1572167" y="124248"/>
                </a:lnTo>
                <a:close/>
                <a:moveTo>
                  <a:pt x="1848230" y="568772"/>
                </a:moveTo>
                <a:lnTo>
                  <a:pt x="1722703" y="360142"/>
                </a:lnTo>
                <a:cubicBezTo>
                  <a:pt x="1762381" y="351565"/>
                  <a:pt x="1792152" y="334171"/>
                  <a:pt x="1812015" y="307961"/>
                </a:cubicBezTo>
                <a:cubicBezTo>
                  <a:pt x="1831830" y="281750"/>
                  <a:pt x="1841785" y="251515"/>
                  <a:pt x="1841785" y="217207"/>
                </a:cubicBezTo>
                <a:cubicBezTo>
                  <a:pt x="1841785" y="189127"/>
                  <a:pt x="1835341" y="164115"/>
                  <a:pt x="1822404" y="142169"/>
                </a:cubicBezTo>
                <a:cubicBezTo>
                  <a:pt x="1809514" y="120271"/>
                  <a:pt x="1790035" y="102877"/>
                  <a:pt x="1763969" y="89988"/>
                </a:cubicBezTo>
                <a:cubicBezTo>
                  <a:pt x="1737901" y="77098"/>
                  <a:pt x="1705966" y="70725"/>
                  <a:pt x="1668212" y="70725"/>
                </a:cubicBezTo>
                <a:lnTo>
                  <a:pt x="1506854" y="70725"/>
                </a:lnTo>
                <a:lnTo>
                  <a:pt x="1506854" y="568772"/>
                </a:lnTo>
                <a:lnTo>
                  <a:pt x="1572119" y="568772"/>
                </a:lnTo>
                <a:lnTo>
                  <a:pt x="1572119" y="365125"/>
                </a:lnTo>
                <a:lnTo>
                  <a:pt x="1651042" y="365125"/>
                </a:lnTo>
                <a:lnTo>
                  <a:pt x="1770077" y="568772"/>
                </a:lnTo>
                <a:lnTo>
                  <a:pt x="1848230" y="568772"/>
                </a:lnTo>
                <a:close/>
                <a:moveTo>
                  <a:pt x="1116710" y="70725"/>
                </a:moveTo>
                <a:lnTo>
                  <a:pt x="1116710" y="123577"/>
                </a:lnTo>
                <a:lnTo>
                  <a:pt x="1253684" y="123577"/>
                </a:lnTo>
                <a:lnTo>
                  <a:pt x="1253684" y="568724"/>
                </a:lnTo>
                <a:lnTo>
                  <a:pt x="1318948" y="568724"/>
                </a:lnTo>
                <a:lnTo>
                  <a:pt x="1318948" y="123577"/>
                </a:lnTo>
                <a:lnTo>
                  <a:pt x="1455249" y="123577"/>
                </a:lnTo>
                <a:lnTo>
                  <a:pt x="1455249" y="70725"/>
                </a:lnTo>
                <a:lnTo>
                  <a:pt x="1116710" y="70725"/>
                </a:lnTo>
                <a:close/>
                <a:moveTo>
                  <a:pt x="765282" y="573755"/>
                </a:moveTo>
                <a:cubicBezTo>
                  <a:pt x="799718" y="573755"/>
                  <a:pt x="829585" y="567094"/>
                  <a:pt x="854931" y="553726"/>
                </a:cubicBezTo>
                <a:cubicBezTo>
                  <a:pt x="880277" y="540405"/>
                  <a:pt x="899370" y="523011"/>
                  <a:pt x="912308" y="501544"/>
                </a:cubicBezTo>
                <a:cubicBezTo>
                  <a:pt x="925245" y="480126"/>
                  <a:pt x="931642" y="457269"/>
                  <a:pt x="931642" y="432976"/>
                </a:cubicBezTo>
                <a:cubicBezTo>
                  <a:pt x="931642" y="401542"/>
                  <a:pt x="924476" y="376625"/>
                  <a:pt x="910144" y="358273"/>
                </a:cubicBezTo>
                <a:cubicBezTo>
                  <a:pt x="895763" y="339969"/>
                  <a:pt x="878594" y="326361"/>
                  <a:pt x="858490" y="317544"/>
                </a:cubicBezTo>
                <a:cubicBezTo>
                  <a:pt x="838386" y="308727"/>
                  <a:pt x="811886" y="299815"/>
                  <a:pt x="778893" y="290759"/>
                </a:cubicBezTo>
                <a:cubicBezTo>
                  <a:pt x="751623" y="283140"/>
                  <a:pt x="730462" y="276384"/>
                  <a:pt x="715456" y="270394"/>
                </a:cubicBezTo>
                <a:cubicBezTo>
                  <a:pt x="700403" y="264452"/>
                  <a:pt x="687706" y="255732"/>
                  <a:pt x="677413" y="244327"/>
                </a:cubicBezTo>
                <a:cubicBezTo>
                  <a:pt x="667121" y="232875"/>
                  <a:pt x="661975" y="218117"/>
                  <a:pt x="661975" y="200004"/>
                </a:cubicBezTo>
                <a:cubicBezTo>
                  <a:pt x="661975" y="174752"/>
                  <a:pt x="670584" y="155106"/>
                  <a:pt x="687802" y="141067"/>
                </a:cubicBezTo>
                <a:cubicBezTo>
                  <a:pt x="705020" y="127027"/>
                  <a:pt x="727288" y="119983"/>
                  <a:pt x="754509" y="119983"/>
                </a:cubicBezTo>
                <a:cubicBezTo>
                  <a:pt x="783655" y="119983"/>
                  <a:pt x="807125" y="127219"/>
                  <a:pt x="824776" y="141786"/>
                </a:cubicBezTo>
                <a:cubicBezTo>
                  <a:pt x="842474" y="156304"/>
                  <a:pt x="852478" y="173123"/>
                  <a:pt x="854883" y="192146"/>
                </a:cubicBezTo>
                <a:lnTo>
                  <a:pt x="926592" y="192146"/>
                </a:lnTo>
                <a:cubicBezTo>
                  <a:pt x="922793" y="153573"/>
                  <a:pt x="905911" y="122619"/>
                  <a:pt x="876045" y="99236"/>
                </a:cubicBezTo>
                <a:cubicBezTo>
                  <a:pt x="846130" y="75900"/>
                  <a:pt x="807798" y="64256"/>
                  <a:pt x="760906" y="64256"/>
                </a:cubicBezTo>
                <a:cubicBezTo>
                  <a:pt x="728394" y="64256"/>
                  <a:pt x="699585" y="69958"/>
                  <a:pt x="674480" y="81411"/>
                </a:cubicBezTo>
                <a:cubicBezTo>
                  <a:pt x="649374" y="92863"/>
                  <a:pt x="629896" y="109011"/>
                  <a:pt x="616045" y="129998"/>
                </a:cubicBezTo>
                <a:cubicBezTo>
                  <a:pt x="602145" y="150938"/>
                  <a:pt x="595220" y="174992"/>
                  <a:pt x="595220" y="202161"/>
                </a:cubicBezTo>
                <a:cubicBezTo>
                  <a:pt x="595220" y="233115"/>
                  <a:pt x="602290" y="257792"/>
                  <a:pt x="616381" y="276096"/>
                </a:cubicBezTo>
                <a:cubicBezTo>
                  <a:pt x="630473" y="294448"/>
                  <a:pt x="647451" y="307913"/>
                  <a:pt x="667314" y="316490"/>
                </a:cubicBezTo>
                <a:cubicBezTo>
                  <a:pt x="687129" y="325067"/>
                  <a:pt x="713581" y="333644"/>
                  <a:pt x="746574" y="342221"/>
                </a:cubicBezTo>
                <a:cubicBezTo>
                  <a:pt x="773362" y="349361"/>
                  <a:pt x="794620" y="356021"/>
                  <a:pt x="810395" y="362250"/>
                </a:cubicBezTo>
                <a:cubicBezTo>
                  <a:pt x="826170" y="368432"/>
                  <a:pt x="839300" y="377488"/>
                  <a:pt x="849833" y="389419"/>
                </a:cubicBezTo>
                <a:cubicBezTo>
                  <a:pt x="860366" y="401350"/>
                  <a:pt x="865608" y="416828"/>
                  <a:pt x="865608" y="435850"/>
                </a:cubicBezTo>
                <a:cubicBezTo>
                  <a:pt x="865608" y="460144"/>
                  <a:pt x="856662" y="480030"/>
                  <a:pt x="838723" y="495507"/>
                </a:cubicBezTo>
                <a:cubicBezTo>
                  <a:pt x="820784" y="510984"/>
                  <a:pt x="796304" y="518699"/>
                  <a:pt x="765234" y="518699"/>
                </a:cubicBezTo>
                <a:cubicBezTo>
                  <a:pt x="734165" y="518699"/>
                  <a:pt x="707954" y="510744"/>
                  <a:pt x="691024" y="494788"/>
                </a:cubicBezTo>
                <a:cubicBezTo>
                  <a:pt x="674047" y="478832"/>
                  <a:pt x="664380" y="459186"/>
                  <a:pt x="661975" y="435850"/>
                </a:cubicBezTo>
                <a:lnTo>
                  <a:pt x="592430" y="435850"/>
                </a:lnTo>
                <a:cubicBezTo>
                  <a:pt x="592911" y="463019"/>
                  <a:pt x="600558" y="486978"/>
                  <a:pt x="615371" y="507678"/>
                </a:cubicBezTo>
                <a:cubicBezTo>
                  <a:pt x="630184" y="528378"/>
                  <a:pt x="650625" y="544622"/>
                  <a:pt x="676692" y="556265"/>
                </a:cubicBezTo>
                <a:cubicBezTo>
                  <a:pt x="702759" y="567957"/>
                  <a:pt x="732241" y="573755"/>
                  <a:pt x="765234" y="573755"/>
                </a:cubicBezTo>
                <a:moveTo>
                  <a:pt x="491287" y="0"/>
                </a:moveTo>
                <a:lnTo>
                  <a:pt x="500617" y="142169"/>
                </a:lnTo>
                <a:lnTo>
                  <a:pt x="545778" y="142169"/>
                </a:lnTo>
                <a:lnTo>
                  <a:pt x="554387" y="0"/>
                </a:lnTo>
                <a:lnTo>
                  <a:pt x="491287" y="0"/>
                </a:lnTo>
                <a:close/>
                <a:moveTo>
                  <a:pt x="116918" y="70725"/>
                </a:moveTo>
                <a:lnTo>
                  <a:pt x="116918" y="123577"/>
                </a:lnTo>
                <a:lnTo>
                  <a:pt x="253892" y="123577"/>
                </a:lnTo>
                <a:lnTo>
                  <a:pt x="253892" y="568724"/>
                </a:lnTo>
                <a:lnTo>
                  <a:pt x="319156" y="568724"/>
                </a:lnTo>
                <a:lnTo>
                  <a:pt x="319156" y="123577"/>
                </a:lnTo>
                <a:lnTo>
                  <a:pt x="455409" y="123577"/>
                </a:lnTo>
                <a:lnTo>
                  <a:pt x="455409" y="70725"/>
                </a:lnTo>
                <a:lnTo>
                  <a:pt x="116918" y="70725"/>
                </a:lnTo>
                <a:close/>
                <a:moveTo>
                  <a:pt x="0" y="568772"/>
                </a:moveTo>
                <a:lnTo>
                  <a:pt x="65265" y="568772"/>
                </a:lnTo>
                <a:lnTo>
                  <a:pt x="65265" y="70677"/>
                </a:lnTo>
                <a:lnTo>
                  <a:pt x="0" y="70677"/>
                </a:lnTo>
                <a:lnTo>
                  <a:pt x="0" y="5687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" name="Google Shape;14;p1"/>
          <p:cNvGrpSpPr/>
          <p:nvPr/>
        </p:nvGrpSpPr>
        <p:grpSpPr>
          <a:xfrm>
            <a:off x="3078281" y="4686632"/>
            <a:ext cx="841283" cy="200063"/>
            <a:chOff x="0" y="3012124"/>
            <a:chExt cx="3476378" cy="826706"/>
          </a:xfrm>
        </p:grpSpPr>
        <p:sp>
          <p:nvSpPr>
            <p:cNvPr id="15" name="Google Shape;15;p1"/>
            <p:cNvSpPr/>
            <p:nvPr/>
          </p:nvSpPr>
          <p:spPr>
            <a:xfrm>
              <a:off x="0" y="3297132"/>
              <a:ext cx="515045" cy="541650"/>
            </a:xfrm>
            <a:custGeom>
              <a:rect b="b" l="l" r="r" t="t"/>
              <a:pathLst>
                <a:path extrusionOk="0" h="541650" w="515045">
                  <a:moveTo>
                    <a:pt x="422031" y="48"/>
                  </a:moveTo>
                  <a:lnTo>
                    <a:pt x="0" y="48"/>
                  </a:lnTo>
                  <a:lnTo>
                    <a:pt x="0" y="541651"/>
                  </a:lnTo>
                  <a:lnTo>
                    <a:pt x="185982" y="541651"/>
                  </a:lnTo>
                  <a:lnTo>
                    <a:pt x="185982" y="342125"/>
                  </a:lnTo>
                  <a:lnTo>
                    <a:pt x="422031" y="342125"/>
                  </a:lnTo>
                  <a:cubicBezTo>
                    <a:pt x="473396" y="342125"/>
                    <a:pt x="515046" y="300630"/>
                    <a:pt x="515046" y="249454"/>
                  </a:cubicBezTo>
                  <a:lnTo>
                    <a:pt x="515046" y="92671"/>
                  </a:lnTo>
                  <a:cubicBezTo>
                    <a:pt x="515046" y="41496"/>
                    <a:pt x="473396" y="0"/>
                    <a:pt x="422031" y="0"/>
                  </a:cubicBezTo>
                  <a:close/>
                  <a:moveTo>
                    <a:pt x="329016" y="235223"/>
                  </a:moveTo>
                  <a:cubicBezTo>
                    <a:pt x="329016" y="247059"/>
                    <a:pt x="319445" y="256642"/>
                    <a:pt x="307565" y="256642"/>
                  </a:cubicBezTo>
                  <a:lnTo>
                    <a:pt x="185982" y="256642"/>
                  </a:lnTo>
                  <a:lnTo>
                    <a:pt x="185982" y="85579"/>
                  </a:lnTo>
                  <a:lnTo>
                    <a:pt x="307565" y="85579"/>
                  </a:lnTo>
                  <a:cubicBezTo>
                    <a:pt x="319445" y="85579"/>
                    <a:pt x="329016" y="95163"/>
                    <a:pt x="329016" y="106998"/>
                  </a:cubicBezTo>
                  <a:lnTo>
                    <a:pt x="329016" y="2352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572230" y="3297180"/>
              <a:ext cx="185982" cy="541602"/>
            </a:xfrm>
            <a:custGeom>
              <a:rect b="b" l="l" r="r" t="t"/>
              <a:pathLst>
                <a:path extrusionOk="0" h="541602" w="185982">
                  <a:moveTo>
                    <a:pt x="0" y="391959"/>
                  </a:moveTo>
                  <a:cubicBezTo>
                    <a:pt x="0" y="454730"/>
                    <a:pt x="32608" y="509882"/>
                    <a:pt x="81857" y="541603"/>
                  </a:cubicBezTo>
                  <a:lnTo>
                    <a:pt x="185982" y="541603"/>
                  </a:lnTo>
                  <a:lnTo>
                    <a:pt x="185982" y="0"/>
                  </a:lnTo>
                  <a:lnTo>
                    <a:pt x="0" y="0"/>
                  </a:lnTo>
                  <a:lnTo>
                    <a:pt x="0" y="3919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15445" y="3425453"/>
              <a:ext cx="500713" cy="413377"/>
            </a:xfrm>
            <a:custGeom>
              <a:rect b="b" l="l" r="r" t="t"/>
              <a:pathLst>
                <a:path extrusionOk="0" h="413377" w="500713">
                  <a:moveTo>
                    <a:pt x="314732" y="306475"/>
                  </a:moveTo>
                  <a:cubicBezTo>
                    <a:pt x="314732" y="318311"/>
                    <a:pt x="305113" y="327846"/>
                    <a:pt x="293281" y="327846"/>
                  </a:cubicBezTo>
                  <a:lnTo>
                    <a:pt x="207432" y="327846"/>
                  </a:lnTo>
                  <a:cubicBezTo>
                    <a:pt x="195601" y="327846"/>
                    <a:pt x="185982" y="318311"/>
                    <a:pt x="185982" y="306475"/>
                  </a:cubicBezTo>
                  <a:lnTo>
                    <a:pt x="185982" y="48"/>
                  </a:lnTo>
                  <a:lnTo>
                    <a:pt x="0" y="48"/>
                  </a:lnTo>
                  <a:lnTo>
                    <a:pt x="0" y="320755"/>
                  </a:lnTo>
                  <a:cubicBezTo>
                    <a:pt x="0" y="371930"/>
                    <a:pt x="41650" y="413378"/>
                    <a:pt x="92967" y="413378"/>
                  </a:cubicBezTo>
                  <a:lnTo>
                    <a:pt x="500714" y="413378"/>
                  </a:lnTo>
                  <a:lnTo>
                    <a:pt x="500714" y="0"/>
                  </a:lnTo>
                  <a:lnTo>
                    <a:pt x="314732" y="0"/>
                  </a:lnTo>
                  <a:lnTo>
                    <a:pt x="314732" y="30642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373343" y="3425405"/>
              <a:ext cx="457813" cy="413377"/>
            </a:xfrm>
            <a:custGeom>
              <a:rect b="b" l="l" r="r" t="t"/>
              <a:pathLst>
                <a:path extrusionOk="0" h="413377" w="457813">
                  <a:moveTo>
                    <a:pt x="364846" y="128321"/>
                  </a:moveTo>
                  <a:lnTo>
                    <a:pt x="193148" y="128321"/>
                  </a:lnTo>
                  <a:cubicBezTo>
                    <a:pt x="181269" y="128321"/>
                    <a:pt x="171698" y="118738"/>
                    <a:pt x="171698" y="106950"/>
                  </a:cubicBezTo>
                  <a:cubicBezTo>
                    <a:pt x="171698" y="95163"/>
                    <a:pt x="181269" y="85531"/>
                    <a:pt x="193148" y="85531"/>
                  </a:cubicBezTo>
                  <a:lnTo>
                    <a:pt x="429197" y="85531"/>
                  </a:lnTo>
                  <a:lnTo>
                    <a:pt x="429197" y="0"/>
                  </a:lnTo>
                  <a:lnTo>
                    <a:pt x="93015" y="0"/>
                  </a:lnTo>
                  <a:cubicBezTo>
                    <a:pt x="41650" y="0"/>
                    <a:pt x="0" y="41496"/>
                    <a:pt x="0" y="92671"/>
                  </a:cubicBezTo>
                  <a:lnTo>
                    <a:pt x="0" y="192434"/>
                  </a:lnTo>
                  <a:cubicBezTo>
                    <a:pt x="0" y="243609"/>
                    <a:pt x="41650" y="285057"/>
                    <a:pt x="93015" y="285057"/>
                  </a:cubicBezTo>
                  <a:lnTo>
                    <a:pt x="264713" y="285057"/>
                  </a:lnTo>
                  <a:cubicBezTo>
                    <a:pt x="276544" y="285057"/>
                    <a:pt x="286163" y="294640"/>
                    <a:pt x="286163" y="306475"/>
                  </a:cubicBezTo>
                  <a:lnTo>
                    <a:pt x="286163" y="320755"/>
                  </a:lnTo>
                  <a:cubicBezTo>
                    <a:pt x="286163" y="332542"/>
                    <a:pt x="276544" y="342125"/>
                    <a:pt x="264713" y="342125"/>
                  </a:cubicBezTo>
                  <a:lnTo>
                    <a:pt x="14332" y="342125"/>
                  </a:lnTo>
                  <a:lnTo>
                    <a:pt x="14332" y="413378"/>
                  </a:lnTo>
                  <a:lnTo>
                    <a:pt x="364846" y="413378"/>
                  </a:lnTo>
                  <a:cubicBezTo>
                    <a:pt x="416211" y="413378"/>
                    <a:pt x="457813" y="371882"/>
                    <a:pt x="457813" y="320755"/>
                  </a:cubicBezTo>
                  <a:lnTo>
                    <a:pt x="457813" y="220992"/>
                  </a:lnTo>
                  <a:cubicBezTo>
                    <a:pt x="457813" y="169817"/>
                    <a:pt x="416163" y="128321"/>
                    <a:pt x="364846" y="1283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530757" y="3012124"/>
              <a:ext cx="386248" cy="327798"/>
            </a:xfrm>
            <a:custGeom>
              <a:rect b="b" l="l" r="r" t="t"/>
              <a:pathLst>
                <a:path extrusionOk="0" h="327798" w="386248">
                  <a:moveTo>
                    <a:pt x="114417" y="327798"/>
                  </a:moveTo>
                  <a:lnTo>
                    <a:pt x="271831" y="327798"/>
                  </a:lnTo>
                  <a:lnTo>
                    <a:pt x="271831" y="242315"/>
                  </a:lnTo>
                  <a:lnTo>
                    <a:pt x="386248" y="242315"/>
                  </a:lnTo>
                  <a:lnTo>
                    <a:pt x="386248" y="85531"/>
                  </a:lnTo>
                  <a:lnTo>
                    <a:pt x="271831" y="85531"/>
                  </a:lnTo>
                  <a:lnTo>
                    <a:pt x="271831" y="0"/>
                  </a:lnTo>
                  <a:lnTo>
                    <a:pt x="114417" y="0"/>
                  </a:lnTo>
                  <a:lnTo>
                    <a:pt x="114417" y="85531"/>
                  </a:lnTo>
                  <a:lnTo>
                    <a:pt x="0" y="85531"/>
                  </a:lnTo>
                  <a:lnTo>
                    <a:pt x="0" y="242315"/>
                  </a:lnTo>
                  <a:lnTo>
                    <a:pt x="114417" y="242315"/>
                  </a:lnTo>
                  <a:lnTo>
                    <a:pt x="114417" y="3277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1888389" y="3339922"/>
              <a:ext cx="472145" cy="498861"/>
            </a:xfrm>
            <a:custGeom>
              <a:rect b="b" l="l" r="r" t="t"/>
              <a:pathLst>
                <a:path extrusionOk="0" h="498861" w="472145">
                  <a:moveTo>
                    <a:pt x="379130" y="185294"/>
                  </a:moveTo>
                  <a:lnTo>
                    <a:pt x="185982" y="185294"/>
                  </a:lnTo>
                  <a:lnTo>
                    <a:pt x="185982" y="85531"/>
                  </a:lnTo>
                  <a:lnTo>
                    <a:pt x="443481" y="85531"/>
                  </a:lnTo>
                  <a:lnTo>
                    <a:pt x="443481" y="0"/>
                  </a:lnTo>
                  <a:lnTo>
                    <a:pt x="0" y="0"/>
                  </a:lnTo>
                  <a:lnTo>
                    <a:pt x="0" y="270777"/>
                  </a:lnTo>
                  <a:lnTo>
                    <a:pt x="264665" y="270777"/>
                  </a:lnTo>
                  <a:cubicBezTo>
                    <a:pt x="276544" y="270777"/>
                    <a:pt x="286115" y="280361"/>
                    <a:pt x="286115" y="292196"/>
                  </a:cubicBezTo>
                  <a:lnTo>
                    <a:pt x="286115" y="391959"/>
                  </a:lnTo>
                  <a:cubicBezTo>
                    <a:pt x="286115" y="403746"/>
                    <a:pt x="276544" y="413330"/>
                    <a:pt x="264665" y="413330"/>
                  </a:cubicBezTo>
                  <a:lnTo>
                    <a:pt x="0" y="413330"/>
                  </a:lnTo>
                  <a:lnTo>
                    <a:pt x="0" y="498861"/>
                  </a:lnTo>
                  <a:lnTo>
                    <a:pt x="379130" y="498861"/>
                  </a:lnTo>
                  <a:cubicBezTo>
                    <a:pt x="430495" y="498861"/>
                    <a:pt x="472145" y="457365"/>
                    <a:pt x="472145" y="406238"/>
                  </a:cubicBezTo>
                  <a:lnTo>
                    <a:pt x="472145" y="277965"/>
                  </a:lnTo>
                  <a:cubicBezTo>
                    <a:pt x="472145" y="226790"/>
                    <a:pt x="430495" y="185294"/>
                    <a:pt x="379130" y="185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417719" y="3339922"/>
              <a:ext cx="500761" cy="498908"/>
            </a:xfrm>
            <a:custGeom>
              <a:rect b="b" l="l" r="r" t="t"/>
              <a:pathLst>
                <a:path extrusionOk="0" h="498908" w="500761">
                  <a:moveTo>
                    <a:pt x="407747" y="0"/>
                  </a:moveTo>
                  <a:lnTo>
                    <a:pt x="93015" y="0"/>
                  </a:lnTo>
                  <a:cubicBezTo>
                    <a:pt x="41650" y="0"/>
                    <a:pt x="0" y="41496"/>
                    <a:pt x="0" y="92671"/>
                  </a:cubicBezTo>
                  <a:lnTo>
                    <a:pt x="0" y="406238"/>
                  </a:lnTo>
                  <a:cubicBezTo>
                    <a:pt x="0" y="457413"/>
                    <a:pt x="41650" y="498909"/>
                    <a:pt x="93015" y="498909"/>
                  </a:cubicBezTo>
                  <a:lnTo>
                    <a:pt x="407747" y="498909"/>
                  </a:lnTo>
                  <a:cubicBezTo>
                    <a:pt x="459112" y="498909"/>
                    <a:pt x="500762" y="457413"/>
                    <a:pt x="500762" y="406238"/>
                  </a:cubicBezTo>
                  <a:lnTo>
                    <a:pt x="500762" y="92671"/>
                  </a:lnTo>
                  <a:cubicBezTo>
                    <a:pt x="500762" y="41496"/>
                    <a:pt x="459112" y="0"/>
                    <a:pt x="407747" y="0"/>
                  </a:cubicBezTo>
                  <a:close/>
                  <a:moveTo>
                    <a:pt x="314732" y="391959"/>
                  </a:moveTo>
                  <a:cubicBezTo>
                    <a:pt x="314732" y="403794"/>
                    <a:pt x="305161" y="413330"/>
                    <a:pt x="293281" y="413330"/>
                  </a:cubicBezTo>
                  <a:lnTo>
                    <a:pt x="207432" y="413330"/>
                  </a:lnTo>
                  <a:cubicBezTo>
                    <a:pt x="195553" y="413330"/>
                    <a:pt x="185934" y="403794"/>
                    <a:pt x="185934" y="391959"/>
                  </a:cubicBezTo>
                  <a:lnTo>
                    <a:pt x="185934" y="106902"/>
                  </a:lnTo>
                  <a:cubicBezTo>
                    <a:pt x="185934" y="95067"/>
                    <a:pt x="195553" y="85483"/>
                    <a:pt x="207432" y="85483"/>
                  </a:cubicBezTo>
                  <a:lnTo>
                    <a:pt x="293281" y="85483"/>
                  </a:lnTo>
                  <a:cubicBezTo>
                    <a:pt x="305161" y="85483"/>
                    <a:pt x="314732" y="95067"/>
                    <a:pt x="314732" y="106902"/>
                  </a:cubicBezTo>
                  <a:lnTo>
                    <a:pt x="314732" y="3919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975617" y="3339922"/>
              <a:ext cx="500761" cy="498908"/>
            </a:xfrm>
            <a:custGeom>
              <a:rect b="b" l="l" r="r" t="t"/>
              <a:pathLst>
                <a:path extrusionOk="0" h="498908" w="500761">
                  <a:moveTo>
                    <a:pt x="407747" y="0"/>
                  </a:moveTo>
                  <a:lnTo>
                    <a:pt x="93015" y="0"/>
                  </a:lnTo>
                  <a:cubicBezTo>
                    <a:pt x="41650" y="0"/>
                    <a:pt x="0" y="41496"/>
                    <a:pt x="0" y="92671"/>
                  </a:cubicBezTo>
                  <a:lnTo>
                    <a:pt x="0" y="406238"/>
                  </a:lnTo>
                  <a:cubicBezTo>
                    <a:pt x="0" y="457413"/>
                    <a:pt x="41650" y="498909"/>
                    <a:pt x="93015" y="498909"/>
                  </a:cubicBezTo>
                  <a:lnTo>
                    <a:pt x="407747" y="498909"/>
                  </a:lnTo>
                  <a:cubicBezTo>
                    <a:pt x="459112" y="498909"/>
                    <a:pt x="500762" y="457413"/>
                    <a:pt x="500762" y="406238"/>
                  </a:cubicBezTo>
                  <a:lnTo>
                    <a:pt x="500762" y="92671"/>
                  </a:lnTo>
                  <a:cubicBezTo>
                    <a:pt x="500762" y="41496"/>
                    <a:pt x="459112" y="0"/>
                    <a:pt x="407747" y="0"/>
                  </a:cubicBezTo>
                  <a:close/>
                  <a:moveTo>
                    <a:pt x="314732" y="391959"/>
                  </a:moveTo>
                  <a:cubicBezTo>
                    <a:pt x="314732" y="403794"/>
                    <a:pt x="305161" y="413330"/>
                    <a:pt x="293281" y="413330"/>
                  </a:cubicBezTo>
                  <a:lnTo>
                    <a:pt x="207432" y="413330"/>
                  </a:lnTo>
                  <a:cubicBezTo>
                    <a:pt x="195553" y="413330"/>
                    <a:pt x="185982" y="403794"/>
                    <a:pt x="185982" y="391959"/>
                  </a:cubicBezTo>
                  <a:lnTo>
                    <a:pt x="185982" y="106902"/>
                  </a:lnTo>
                  <a:cubicBezTo>
                    <a:pt x="185982" y="95067"/>
                    <a:pt x="195553" y="85483"/>
                    <a:pt x="207432" y="85483"/>
                  </a:cubicBezTo>
                  <a:lnTo>
                    <a:pt x="293281" y="85483"/>
                  </a:lnTo>
                  <a:cubicBezTo>
                    <a:pt x="305161" y="85483"/>
                    <a:pt x="314732" y="95067"/>
                    <a:pt x="314732" y="106902"/>
                  </a:cubicBezTo>
                  <a:lnTo>
                    <a:pt x="314732" y="39195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5">
          <p15:clr>
            <a:srgbClr val="F26B43"/>
          </p15:clr>
        </p15:guide>
        <p15:guide id="2" orient="horz" pos="2886">
          <p15:clr>
            <a:srgbClr val="F26B43"/>
          </p15:clr>
        </p15:guide>
        <p15:guide id="3" orient="horz" pos="864">
          <p15:clr>
            <a:srgbClr val="F26B43"/>
          </p15:clr>
        </p15:guide>
        <p15:guide id="4" pos="5535">
          <p15:clr>
            <a:srgbClr val="F26B43"/>
          </p15:clr>
        </p15:guide>
        <p15:guide id="5" orient="horz" pos="973">
          <p15:clr>
            <a:srgbClr val="F26B43"/>
          </p15:clr>
        </p15:guide>
        <p15:guide id="6" orient="horz" pos="30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https://admin.plus500.com/Users/UserDetails.aspx?id=229636565" TargetMode="External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eapanalytics.com/app/env/280771416/dashboard/Customer-Interview-User-overview-Dashboard-525349?property%3Aidentity%3Auser%3Abuiltin%3Aoperator=%253D&amp;property%3Aidentity%3Auser%3Abuiltin=229636565" TargetMode="External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hyperlink" Target="https://plus500.zendesk.com/agent/tickets/10359555" TargetMode="External"/><Relationship Id="rId5" Type="http://schemas.openxmlformats.org/officeDocument/2006/relationships/hyperlink" Target="https://plus500.zendesk.com/agent/tickets/10365823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607775" y="1328275"/>
            <a:ext cx="36255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600"/>
              <a:t>User Overview</a:t>
            </a:r>
            <a:endParaRPr sz="3600"/>
          </a:p>
        </p:txBody>
      </p:sp>
      <p:sp>
        <p:nvSpPr>
          <p:cNvPr id="123" name="Google Shape;123;p18"/>
          <p:cNvSpPr txBox="1"/>
          <p:nvPr>
            <p:ph idx="4294967295" type="subTitle"/>
          </p:nvPr>
        </p:nvSpPr>
        <p:spPr>
          <a:xfrm>
            <a:off x="919872" y="2571750"/>
            <a:ext cx="3259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rPr b="0" i="0" lang="en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Meet Dmitry👋</a:t>
            </a:r>
            <a:endParaRPr b="0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13015" r="11398" t="-10472"/>
          <a:stretch/>
        </p:blipFill>
        <p:spPr>
          <a:xfrm>
            <a:off x="4572000" y="721950"/>
            <a:ext cx="3625451" cy="2788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18"/>
          <p:cNvCxnSpPr/>
          <p:nvPr/>
        </p:nvCxnSpPr>
        <p:spPr>
          <a:xfrm>
            <a:off x="1420325" y="2339575"/>
            <a:ext cx="2000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8"/>
          <p:cNvSpPr txBox="1"/>
          <p:nvPr/>
        </p:nvSpPr>
        <p:spPr>
          <a:xfrm>
            <a:off x="2504825" y="297975"/>
            <a:ext cx="11454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8"/>
          <p:cNvSpPr txBox="1"/>
          <p:nvPr>
            <p:ph idx="4294967295" type="subTitle"/>
          </p:nvPr>
        </p:nvSpPr>
        <p:spPr>
          <a:xfrm>
            <a:off x="790922" y="1154850"/>
            <a:ext cx="32592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Pre-Interview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19"/>
          <p:cNvGraphicFramePr/>
          <p:nvPr/>
        </p:nvGraphicFramePr>
        <p:xfrm>
          <a:off x="144538" y="605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{99FAEEA0-10E0-40C7-868E-24211691D449}</a:tableStyleId>
              </a:tblPr>
              <a:tblGrid>
                <a:gridCol w="2300450"/>
                <a:gridCol w="1884275"/>
                <a:gridCol w="2426975"/>
                <a:gridCol w="2067000"/>
              </a:tblGrid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Name: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Dmitry Odessky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Tier: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9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Gender, Age: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Male, 43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Recently used device/s: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</a:rPr>
                        <a:t>AndroidTablet Samsung Galaxy Z Fold7 + Webapp Desktop</a:t>
                      </a:r>
                      <a:endParaRPr b="1"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3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Country: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Switzerland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Industry: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Insurance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Nationality: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Swiss</a:t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Sign up date: 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29/03/2021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Product, Regulation: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CFD, Plus500SEY | FSA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33" name="Google Shape;133;p19"/>
          <p:cNvPicPr preferRelativeResize="0"/>
          <p:nvPr/>
        </p:nvPicPr>
        <p:blipFill rotWithShape="1">
          <a:blip r:embed="rId3">
            <a:alphaModFix/>
          </a:blip>
          <a:srcRect b="9925" l="10557" r="9583" t="9514"/>
          <a:stretch/>
        </p:blipFill>
        <p:spPr>
          <a:xfrm>
            <a:off x="3163979" y="251544"/>
            <a:ext cx="291800" cy="29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3223838" y="135600"/>
            <a:ext cx="2428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User Profile</a:t>
            </a:r>
            <a:endParaRPr sz="2000"/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5277545" y="163825"/>
            <a:ext cx="14745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en" sz="1300" u="sng">
                <a:solidFill>
                  <a:schemeClr val="hlink"/>
                </a:solidFill>
                <a:hlinkClick r:id="rId4"/>
              </a:rPr>
              <a:t>Admin Link</a:t>
            </a:r>
            <a:endParaRPr b="0" sz="1300"/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4400" y="718725"/>
            <a:ext cx="1663304" cy="34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p20"/>
          <p:cNvGraphicFramePr/>
          <p:nvPr/>
        </p:nvGraphicFramePr>
        <p:xfrm>
          <a:off x="130350" y="8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{99FAEEA0-10E0-40C7-868E-24211691D449}</a:tableStyleId>
              </a:tblPr>
              <a:tblGrid>
                <a:gridCol w="2258050"/>
                <a:gridCol w="2483800"/>
                <a:gridCol w="2893275"/>
                <a:gridCol w="883600"/>
              </a:tblGrid>
              <a:tr h="33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First deposit date: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10/06/2024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76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deposit date: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16/01/2026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deposits: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216,000.00 AED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58,807.51 $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Bonuses (Last 6 months): 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 Ongoing deposit (Dec, 2025) - BtsConFulFilled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Deposit PM’s</a:t>
                      </a:r>
                      <a:endParaRPr sz="15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CreditCard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GooglePay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Rebates (Last 6 months): 4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(Dec 25-Jan26)- BtsConFulFilled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withdrawals: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50,000.00 AED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13,612.85 $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72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Withdrawal PM’s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CreditCard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Wire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2" name="Google Shape;142;p20"/>
          <p:cNvSpPr txBox="1"/>
          <p:nvPr>
            <p:ph type="title"/>
          </p:nvPr>
        </p:nvSpPr>
        <p:spPr>
          <a:xfrm>
            <a:off x="5977795" y="144500"/>
            <a:ext cx="29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Cashier Activity</a:t>
            </a:r>
            <a:endParaRPr sz="2000"/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7175" y="186275"/>
            <a:ext cx="398250" cy="3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5814934" y="139900"/>
            <a:ext cx="2955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Trading Activity</a:t>
            </a:r>
            <a:endParaRPr sz="2000"/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-4882" l="-1750" r="-5615" t="-1059"/>
          <a:stretch/>
        </p:blipFill>
        <p:spPr>
          <a:xfrm>
            <a:off x="5618514" y="236730"/>
            <a:ext cx="342650" cy="338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78" y="609700"/>
            <a:ext cx="4345300" cy="3686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21"/>
          <p:cNvGraphicFramePr/>
          <p:nvPr/>
        </p:nvGraphicFramePr>
        <p:xfrm>
          <a:off x="-12" y="-1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{99FAEEA0-10E0-40C7-868E-24211691D449}</a:tableStyleId>
              </a:tblPr>
              <a:tblGrid>
                <a:gridCol w="3752325"/>
                <a:gridCol w="964000"/>
                <a:gridCol w="2755950"/>
                <a:gridCol w="1596550"/>
              </a:tblGrid>
              <a:tr h="689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real position date: 20/01/2026 on USA 500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7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Last demo position date: 10/11/2025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6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Trading Frequency: Many times a day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87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P\L: -157,942.90 AED/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-43,003.40 $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Current balance: </a:t>
                      </a: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8,114.07 AED/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2,209.11 $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Recent Margin Calls: 8,114.07 AED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2,209.11 $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Risk Management Usage Frequency: 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StopCall often</a:t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0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3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9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500" u="none" cap="none" strike="noStrike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163585" y="143875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Features Usage (last year) </a:t>
            </a:r>
            <a:endParaRPr sz="2000"/>
          </a:p>
        </p:txBody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3376800" y="651850"/>
            <a:ext cx="2390400" cy="3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700"/>
          </a:p>
        </p:txBody>
      </p:sp>
      <p:graphicFrame>
        <p:nvGraphicFramePr>
          <p:cNvPr id="158" name="Google Shape;158;p22"/>
          <p:cNvGraphicFramePr/>
          <p:nvPr/>
        </p:nvGraphicFramePr>
        <p:xfrm>
          <a:off x="357200" y="105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{99FAEEA0-10E0-40C7-868E-24211691D449}</a:tableStyleId>
              </a:tblPr>
              <a:tblGrid>
                <a:gridCol w="2049025"/>
                <a:gridCol w="2253875"/>
                <a:gridCol w="1165550"/>
                <a:gridCol w="2261700"/>
              </a:tblGrid>
              <a:tr h="49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Chart: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Recent activity on Jan 2026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Insights: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Alerts: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PlusMe: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Watchlists: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Yes  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PlusAI: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6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Instruments search with no results: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51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9" name="Google Shape;159;p22"/>
          <p:cNvSpPr txBox="1"/>
          <p:nvPr>
            <p:ph type="title"/>
          </p:nvPr>
        </p:nvSpPr>
        <p:spPr>
          <a:xfrm>
            <a:off x="1939695" y="182050"/>
            <a:ext cx="3987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✧ </a:t>
            </a:r>
            <a:endParaRPr sz="2300"/>
          </a:p>
        </p:txBody>
      </p:sp>
      <p:sp>
        <p:nvSpPr>
          <p:cNvPr id="160" name="Google Shape;160;p22"/>
          <p:cNvSpPr txBox="1"/>
          <p:nvPr>
            <p:ph type="title"/>
          </p:nvPr>
        </p:nvSpPr>
        <p:spPr>
          <a:xfrm>
            <a:off x="5895962" y="143875"/>
            <a:ext cx="3159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en" sz="1200" u="sng">
                <a:solidFill>
                  <a:schemeClr val="hlink"/>
                </a:solidFill>
                <a:hlinkClick r:id="rId3"/>
              </a:rPr>
              <a:t>Heap Link - User overview</a:t>
            </a:r>
            <a:endParaRPr b="0" sz="1200"/>
          </a:p>
        </p:txBody>
      </p:sp>
      <p:pic>
        <p:nvPicPr>
          <p:cNvPr id="161" name="Google Shape;1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7200" y="3015467"/>
            <a:ext cx="3122500" cy="14338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2"/>
          <p:cNvCxnSpPr/>
          <p:nvPr/>
        </p:nvCxnSpPr>
        <p:spPr>
          <a:xfrm>
            <a:off x="2992575" y="2803150"/>
            <a:ext cx="2459400" cy="819900"/>
          </a:xfrm>
          <a:prstGeom prst="straightConnector1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58800" y="127775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Support History</a:t>
            </a:r>
            <a:endParaRPr sz="2000"/>
          </a:p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10619" l="8242" r="59278" t="11298"/>
          <a:stretch/>
        </p:blipFill>
        <p:spPr>
          <a:xfrm>
            <a:off x="3062625" y="206112"/>
            <a:ext cx="364050" cy="39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/>
          <p:cNvSpPr txBox="1"/>
          <p:nvPr>
            <p:ph idx="4294967295" type="subTitle"/>
          </p:nvPr>
        </p:nvSpPr>
        <p:spPr>
          <a:xfrm>
            <a:off x="701629" y="1003050"/>
            <a:ext cx="7004700" cy="1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Did the customer contact customer support in the past year?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Tickets: 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user were requested to upload the documents - </a:t>
            </a:r>
            <a:r>
              <a:rPr b="0" i="0" lang="en" sz="16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10359555</a:t>
            </a: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user accepted Premium invitation: Till Lindemann live in Dubai - </a:t>
            </a:r>
            <a:r>
              <a:rPr b="0" i="0" lang="en" sz="16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10365823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58800" y="127775"/>
            <a:ext cx="84264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40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Any Additional Information</a:t>
            </a:r>
            <a:endParaRPr sz="2000"/>
          </a:p>
        </p:txBody>
      </p:sp>
      <p:sp>
        <p:nvSpPr>
          <p:cNvPr id="175" name="Google Shape;175;p24"/>
          <p:cNvSpPr txBox="1"/>
          <p:nvPr>
            <p:ph idx="4294967295" type="subTitle"/>
          </p:nvPr>
        </p:nvSpPr>
        <p:spPr>
          <a:xfrm>
            <a:off x="701629" y="1003050"/>
            <a:ext cx="7004700" cy="16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Customer has been upgraded to Premium tier from None tier. Trigger: Admin. Event Date: 2025-08-03 13:00:23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b="0" i="0" lang="en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Account Manager:Razi Hanna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oppins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s500 2.3">
  <a:themeElements>
    <a:clrScheme name="July2022">
      <a:dk1>
        <a:srgbClr val="000000"/>
      </a:dk1>
      <a:lt1>
        <a:srgbClr val="FFFFFF"/>
      </a:lt1>
      <a:dk2>
        <a:srgbClr val="717171"/>
      </a:dk2>
      <a:lt2>
        <a:srgbClr val="EBEBEB"/>
      </a:lt2>
      <a:accent1>
        <a:srgbClr val="0C2780"/>
      </a:accent1>
      <a:accent2>
        <a:srgbClr val="11AFFF"/>
      </a:accent2>
      <a:accent3>
        <a:srgbClr val="2E86FE"/>
      </a:accent3>
      <a:accent4>
        <a:srgbClr val="36F0EB"/>
      </a:accent4>
      <a:accent5>
        <a:srgbClr val="D93E3E"/>
      </a:accent5>
      <a:accent6>
        <a:srgbClr val="66B849"/>
      </a:accent6>
      <a:hlink>
        <a:srgbClr val="11AFFF"/>
      </a:hlink>
      <a:folHlink>
        <a:srgbClr val="2E86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